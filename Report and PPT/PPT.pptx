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9" r:id="rId6"/>
    <p:sldId id="257" r:id="rId7"/>
    <p:sldId id="272" r:id="rId8"/>
    <p:sldId id="271" r:id="rId9"/>
    <p:sldId id="273" r:id="rId10"/>
    <p:sldId id="274" r:id="rId11"/>
    <p:sldId id="275" r:id="rId12"/>
    <p:sldId id="279" r:id="rId13"/>
    <p:sldId id="280" r:id="rId14"/>
    <p:sldId id="278" r:id="rId15"/>
    <p:sldId id="268" r:id="rId1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Swin Transformer</c:v>
                </c:pt>
              </c:strCache>
            </c:strRef>
          </c:tx>
          <c:spPr>
            <a:solidFill>
              <a:schemeClr val="accent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Macro F1</c:v>
                </c:pt>
                <c:pt idx="5">
                  <c:v>AUC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0.88680000000000003</c:v>
                </c:pt>
                <c:pt idx="1">
                  <c:v>0.81</c:v>
                </c:pt>
                <c:pt idx="2">
                  <c:v>0.82</c:v>
                </c:pt>
                <c:pt idx="3">
                  <c:v>0.81</c:v>
                </c:pt>
                <c:pt idx="4">
                  <c:v>0.87</c:v>
                </c:pt>
                <c:pt idx="5">
                  <c:v>0.91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E4-480E-986F-2221D6EC068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ResNet50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F1-Score</c:v>
                </c:pt>
                <c:pt idx="4">
                  <c:v>Macro F1</c:v>
                </c:pt>
                <c:pt idx="5">
                  <c:v>AUC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0.84</c:v>
                </c:pt>
                <c:pt idx="1">
                  <c:v>0.74</c:v>
                </c:pt>
                <c:pt idx="2">
                  <c:v>0.71</c:v>
                </c:pt>
                <c:pt idx="3">
                  <c:v>0.72</c:v>
                </c:pt>
                <c:pt idx="4">
                  <c:v>0.8</c:v>
                </c:pt>
                <c:pt idx="5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E4-480E-986F-2221D6EC06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solidFill>
            <a:schemeClr val="bg1"/>
          </a:solidFill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2">
                    <a:lumMod val="50000"/>
                  </a:schemeClr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6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chemeClr val="accent2">
                    <a:lumMod val="50000"/>
                  </a:schemeClr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8FB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IN" sz="3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5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6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400"/>
              </a:spcBef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Comparative Study of Swin Transformer and ResNet50 for Automated Detection of Age-Related Macular Degeneration Using Fundus Images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Avireet Kaur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2210990202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Shikha Tuteja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7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D351-09C4-5C70-38D2-41078346E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28619" cy="796413"/>
          </a:xfrm>
        </p:spPr>
        <p:txBody>
          <a:bodyPr/>
          <a:lstStyle/>
          <a:p>
            <a:pPr algn="ctr"/>
            <a:r>
              <a:rPr lang="en-US" sz="3200" b="1" dirty="0"/>
              <a:t>TABLE OF 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24A8C-D8CC-C0D4-A0F8-40030A83F725}"/>
              </a:ext>
            </a:extLst>
          </p:cNvPr>
          <p:cNvSpPr txBox="1"/>
          <p:nvPr/>
        </p:nvSpPr>
        <p:spPr>
          <a:xfrm>
            <a:off x="334296" y="1327355"/>
            <a:ext cx="770849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INTRODUCTION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PROBLEM STATEMENT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ABOUT THE DATASET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ARCHITECTURES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METHODOLOGY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RESULTS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PERFORMANCE GRAPHS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CONCLUSION</a:t>
            </a:r>
          </a:p>
          <a:p>
            <a:pPr marL="342900" indent="-342900">
              <a:lnSpc>
                <a:spcPct val="150000"/>
              </a:lnSpc>
              <a:buClr>
                <a:srgbClr val="C00000"/>
              </a:buClr>
              <a:buFont typeface="+mj-lt"/>
              <a:buAutoNum type="arabicPeriod"/>
            </a:pPr>
            <a:r>
              <a:rPr lang="en-US" b="1" dirty="0"/>
              <a:t>FUTURE SCOPE</a:t>
            </a:r>
          </a:p>
          <a:p>
            <a:pPr marL="342900" indent="-342900">
              <a:buAutoNum type="arabicPeriod"/>
            </a:pPr>
            <a:endParaRPr lang="en-US" dirty="0"/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4451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0" y="0"/>
            <a:ext cx="6449568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+mj-lt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82880" y="1170431"/>
            <a:ext cx="8766048" cy="555076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buNone/>
            </a:pPr>
            <a:endParaRPr lang="en-US" sz="20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AMD?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Age-related Macular Degeneration (AMD)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 progressive retinal disorder and one of the leading causes of irreversible central vision loss among older adults worldwide.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primarily affects the macula, disrupting high-resolution visual functions such as reading, recognizing faces, and driving etc.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review of fundus images is laborious and subjective as it is heavily dependent on clinical experience, leading to variable results and delayed diagnosis.</a:t>
            </a:r>
          </a:p>
          <a:p>
            <a:pPr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Deep Learning provide automated solutions for retinal disease detection and classification.</a:t>
            </a:r>
            <a:endParaRPr lang="en-US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algn="just"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>
            <a:extLst>
              <a:ext uri="{FF2B5EF4-FFF2-40B4-BE49-F238E27FC236}">
                <a16:creationId xmlns:a16="http://schemas.microsoft.com/office/drawing/2014/main" id="{4B3A35D6-C919-EBED-8BF3-013995262481}"/>
              </a:ext>
            </a:extLst>
          </p:cNvPr>
          <p:cNvSpPr txBox="1"/>
          <p:nvPr/>
        </p:nvSpPr>
        <p:spPr>
          <a:xfrm>
            <a:off x="0" y="0"/>
            <a:ext cx="652272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+mj-lt"/>
                <a:cs typeface="Times New Roman" panose="02020603050405020304" pitchFamily="18" charset="0"/>
              </a:rPr>
              <a:t>PROBLEM STATEMENT</a:t>
            </a:r>
            <a:endParaRPr lang="en-US" sz="3000" b="1" strike="noStrike" spc="-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340845CD-6AE1-03A0-3D4F-F486EED21368}"/>
              </a:ext>
            </a:extLst>
          </p:cNvPr>
          <p:cNvSpPr/>
          <p:nvPr/>
        </p:nvSpPr>
        <p:spPr>
          <a:xfrm>
            <a:off x="256032" y="1414271"/>
            <a:ext cx="2743200" cy="3344541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AB6C87C2-7CFD-9DCE-B632-3024417FAE39}"/>
              </a:ext>
            </a:extLst>
          </p:cNvPr>
          <p:cNvSpPr/>
          <p:nvPr/>
        </p:nvSpPr>
        <p:spPr>
          <a:xfrm>
            <a:off x="256032" y="1414271"/>
            <a:ext cx="2743200" cy="594359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2DE9D3B5-40AD-9FFE-2DCE-890D8FF44BB4}"/>
              </a:ext>
            </a:extLst>
          </p:cNvPr>
          <p:cNvSpPr/>
          <p:nvPr/>
        </p:nvSpPr>
        <p:spPr>
          <a:xfrm>
            <a:off x="256032" y="1414272"/>
            <a:ext cx="2743200" cy="587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 Imbalance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6">
            <a:extLst>
              <a:ext uri="{FF2B5EF4-FFF2-40B4-BE49-F238E27FC236}">
                <a16:creationId xmlns:a16="http://schemas.microsoft.com/office/drawing/2014/main" id="{C28B8224-E053-63A6-E109-088FCB879721}"/>
              </a:ext>
            </a:extLst>
          </p:cNvPr>
          <p:cNvSpPr/>
          <p:nvPr/>
        </p:nvSpPr>
        <p:spPr>
          <a:xfrm>
            <a:off x="365760" y="2293768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 dataset: only 89 AMD images vs 311 Non-AMD. Severe imbalance biases models towards the majority class, reducing AMD sensitivity.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Shape 7">
            <a:extLst>
              <a:ext uri="{FF2B5EF4-FFF2-40B4-BE49-F238E27FC236}">
                <a16:creationId xmlns:a16="http://schemas.microsoft.com/office/drawing/2014/main" id="{3A6168DB-6F85-BDBE-5838-BEE6DFC59F51}"/>
              </a:ext>
            </a:extLst>
          </p:cNvPr>
          <p:cNvSpPr/>
          <p:nvPr/>
        </p:nvSpPr>
        <p:spPr>
          <a:xfrm>
            <a:off x="3200400" y="1414272"/>
            <a:ext cx="2743200" cy="334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4" name="Text 9">
            <a:extLst>
              <a:ext uri="{FF2B5EF4-FFF2-40B4-BE49-F238E27FC236}">
                <a16:creationId xmlns:a16="http://schemas.microsoft.com/office/drawing/2014/main" id="{D13BFEAC-2686-0FDD-501C-17982B9FA6D4}"/>
              </a:ext>
            </a:extLst>
          </p:cNvPr>
          <p:cNvSpPr/>
          <p:nvPr/>
        </p:nvSpPr>
        <p:spPr>
          <a:xfrm>
            <a:off x="3200400" y="1432080"/>
            <a:ext cx="2743200" cy="58216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Subtle Early Features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8FDB5CEA-AE54-526D-1F02-F661CB8325D0}"/>
              </a:ext>
            </a:extLst>
          </p:cNvPr>
          <p:cNvSpPr/>
          <p:nvPr/>
        </p:nvSpPr>
        <p:spPr>
          <a:xfrm>
            <a:off x="3310128" y="2293768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Early-stage AMD shows minimal drusen deposits and subtle RPE changes </a:t>
            </a:r>
          </a:p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Extremely difficult to detect without high-resolution feature extraction.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11">
            <a:extLst>
              <a:ext uri="{FF2B5EF4-FFF2-40B4-BE49-F238E27FC236}">
                <a16:creationId xmlns:a16="http://schemas.microsoft.com/office/drawing/2014/main" id="{53FB3E2C-5893-10F1-E551-66B4B7419FA5}"/>
              </a:ext>
            </a:extLst>
          </p:cNvPr>
          <p:cNvSpPr/>
          <p:nvPr/>
        </p:nvSpPr>
        <p:spPr>
          <a:xfrm>
            <a:off x="6144768" y="1414272"/>
            <a:ext cx="2743200" cy="334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7" name="Shape 12">
            <a:extLst>
              <a:ext uri="{FF2B5EF4-FFF2-40B4-BE49-F238E27FC236}">
                <a16:creationId xmlns:a16="http://schemas.microsoft.com/office/drawing/2014/main" id="{158A4B9D-3807-635A-B94D-C90945D5F566}"/>
              </a:ext>
            </a:extLst>
          </p:cNvPr>
          <p:cNvSpPr/>
          <p:nvPr/>
        </p:nvSpPr>
        <p:spPr>
          <a:xfrm>
            <a:off x="6144768" y="1414272"/>
            <a:ext cx="2743200" cy="502920"/>
          </a:xfrm>
          <a:prstGeom prst="rect">
            <a:avLst/>
          </a:prstGeom>
          <a:solidFill>
            <a:srgbClr val="0D9B76"/>
          </a:solidFill>
          <a:ln w="12700">
            <a:solidFill>
              <a:srgbClr val="0D9B76"/>
            </a:solidFill>
            <a:prstDash val="solid"/>
          </a:ln>
        </p:spPr>
      </p:sp>
      <p:sp>
        <p:nvSpPr>
          <p:cNvPr id="68" name="Text 13">
            <a:extLst>
              <a:ext uri="{FF2B5EF4-FFF2-40B4-BE49-F238E27FC236}">
                <a16:creationId xmlns:a16="http://schemas.microsoft.com/office/drawing/2014/main" id="{FADD0394-48AC-CAD5-7F18-F43950415DC6}"/>
              </a:ext>
            </a:extLst>
          </p:cNvPr>
          <p:cNvSpPr/>
          <p:nvPr/>
        </p:nvSpPr>
        <p:spPr>
          <a:xfrm>
            <a:off x="6144768" y="1414272"/>
            <a:ext cx="2743200" cy="594358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Comparative Studies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14">
            <a:extLst>
              <a:ext uri="{FF2B5EF4-FFF2-40B4-BE49-F238E27FC236}">
                <a16:creationId xmlns:a16="http://schemas.microsoft.com/office/drawing/2014/main" id="{30644AD9-3346-A0F2-7B7B-525A50B1DBB0}"/>
              </a:ext>
            </a:extLst>
          </p:cNvPr>
          <p:cNvSpPr/>
          <p:nvPr/>
        </p:nvSpPr>
        <p:spPr>
          <a:xfrm>
            <a:off x="6254496" y="2293768"/>
            <a:ext cx="2523744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Very few direct comparisons between CNN models (ResNet50) and modern Transformer architectures (Swin) exist specifically for AMD detection.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16">
            <a:extLst>
              <a:ext uri="{FF2B5EF4-FFF2-40B4-BE49-F238E27FC236}">
                <a16:creationId xmlns:a16="http://schemas.microsoft.com/office/drawing/2014/main" id="{DEA45EAE-0C10-F4B0-059E-D56EE6DA96C7}"/>
              </a:ext>
            </a:extLst>
          </p:cNvPr>
          <p:cNvSpPr/>
          <p:nvPr/>
        </p:nvSpPr>
        <p:spPr>
          <a:xfrm>
            <a:off x="256032" y="54993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study addresses these challenges by comparing ResNet50 and Swin Transformer with SMOTE-based balancing on the ADAM dataset</a:t>
            </a:r>
            <a:r>
              <a:rPr lang="en-US" sz="1100" dirty="0">
                <a:solidFill>
                  <a:srgbClr val="00A8E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5353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Shape 1">
            <a:extLst>
              <a:ext uri="{FF2B5EF4-FFF2-40B4-BE49-F238E27FC236}">
                <a16:creationId xmlns:a16="http://schemas.microsoft.com/office/drawing/2014/main" id="{02A14DC8-032E-ECAE-1D9C-FD4447B7A95E}"/>
              </a:ext>
            </a:extLst>
          </p:cNvPr>
          <p:cNvSpPr txBox="1"/>
          <p:nvPr/>
        </p:nvSpPr>
        <p:spPr>
          <a:xfrm>
            <a:off x="-1" y="0"/>
            <a:ext cx="6518787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strike="noStrike" spc="-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ABOUT THE D</a:t>
            </a:r>
            <a:r>
              <a:rPr lang="en" sz="3200" b="1" spc="-1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ATASET</a:t>
            </a:r>
            <a:endParaRPr lang="en-US" sz="3000" b="1" strike="noStrike" spc="-1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1610272-5728-1ED6-9569-E13250F3B085}"/>
              </a:ext>
            </a:extLst>
          </p:cNvPr>
          <p:cNvSpPr/>
          <p:nvPr/>
        </p:nvSpPr>
        <p:spPr>
          <a:xfrm>
            <a:off x="2517648" y="1248697"/>
            <a:ext cx="3931920" cy="4091725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6A981388-64FC-F0BA-59B2-8E8409EB310A}"/>
              </a:ext>
            </a:extLst>
          </p:cNvPr>
          <p:cNvSpPr/>
          <p:nvPr/>
        </p:nvSpPr>
        <p:spPr>
          <a:xfrm>
            <a:off x="2517648" y="1060378"/>
            <a:ext cx="3931920" cy="457200"/>
          </a:xfrm>
          <a:prstGeom prst="rect">
            <a:avLst/>
          </a:prstGeom>
          <a:solidFill>
            <a:schemeClr val="accent2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44D0EF1-60C0-E863-5CA9-14CD1499976A}"/>
              </a:ext>
            </a:extLst>
          </p:cNvPr>
          <p:cNvSpPr/>
          <p:nvPr/>
        </p:nvSpPr>
        <p:spPr>
          <a:xfrm>
            <a:off x="2517648" y="106037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 DATASET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4DA455E1-20B0-5F30-7DE9-19DC559B7FD3}"/>
              </a:ext>
            </a:extLst>
          </p:cNvPr>
          <p:cNvSpPr/>
          <p:nvPr/>
        </p:nvSpPr>
        <p:spPr>
          <a:xfrm>
            <a:off x="2684305" y="1664539"/>
            <a:ext cx="3611880" cy="8033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0EC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3AE90E6-8528-FFBC-9DA5-2A282A0B54C9}"/>
              </a:ext>
            </a:extLst>
          </p:cNvPr>
          <p:cNvSpPr/>
          <p:nvPr/>
        </p:nvSpPr>
        <p:spPr>
          <a:xfrm>
            <a:off x="2730025" y="1582483"/>
            <a:ext cx="164592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Total Images</a:t>
            </a:r>
            <a:endParaRPr lang="en-US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982E1EAF-3D02-0C39-4186-9B0643A8F0AE}"/>
              </a:ext>
            </a:extLst>
          </p:cNvPr>
          <p:cNvSpPr/>
          <p:nvPr/>
        </p:nvSpPr>
        <p:spPr>
          <a:xfrm>
            <a:off x="4375945" y="1582483"/>
            <a:ext cx="182880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400 color fundus images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2B3842AD-89CA-B7FE-9E96-BFA0C433690F}"/>
              </a:ext>
            </a:extLst>
          </p:cNvPr>
          <p:cNvSpPr/>
          <p:nvPr/>
        </p:nvSpPr>
        <p:spPr>
          <a:xfrm>
            <a:off x="2684305" y="2213179"/>
            <a:ext cx="3611880" cy="803357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B257823-E04B-55EC-2242-30BBAB3294D6}"/>
              </a:ext>
            </a:extLst>
          </p:cNvPr>
          <p:cNvSpPr/>
          <p:nvPr/>
        </p:nvSpPr>
        <p:spPr>
          <a:xfrm>
            <a:off x="2730025" y="2034325"/>
            <a:ext cx="164592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AMD Class</a:t>
            </a:r>
            <a:endParaRPr lang="en-US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E82EBD42-039C-1D5E-8CAC-0878D9D9FE09}"/>
              </a:ext>
            </a:extLst>
          </p:cNvPr>
          <p:cNvSpPr/>
          <p:nvPr/>
        </p:nvSpPr>
        <p:spPr>
          <a:xfrm>
            <a:off x="4375945" y="2034325"/>
            <a:ext cx="182880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89 images (minority)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4320CD9E-099F-3DFA-3887-5ED3D8A74910}"/>
              </a:ext>
            </a:extLst>
          </p:cNvPr>
          <p:cNvSpPr/>
          <p:nvPr/>
        </p:nvSpPr>
        <p:spPr>
          <a:xfrm>
            <a:off x="2684305" y="2704030"/>
            <a:ext cx="3611880" cy="950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0EC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4AA4006-2243-A2B2-E0EC-E60072673F75}"/>
              </a:ext>
            </a:extLst>
          </p:cNvPr>
          <p:cNvSpPr/>
          <p:nvPr/>
        </p:nvSpPr>
        <p:spPr>
          <a:xfrm>
            <a:off x="2730025" y="2541747"/>
            <a:ext cx="164592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Non-AMD Class</a:t>
            </a:r>
            <a:endParaRPr lang="en-US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CA696AF2-1F5A-C871-5246-3DA208C475C2}"/>
              </a:ext>
            </a:extLst>
          </p:cNvPr>
          <p:cNvSpPr/>
          <p:nvPr/>
        </p:nvSpPr>
        <p:spPr>
          <a:xfrm>
            <a:off x="4375945" y="2511723"/>
            <a:ext cx="182880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311 images (majority)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911331E5-4E18-1EA2-E34B-0383EFA5BAE7}"/>
              </a:ext>
            </a:extLst>
          </p:cNvPr>
          <p:cNvSpPr/>
          <p:nvPr/>
        </p:nvSpPr>
        <p:spPr>
          <a:xfrm>
            <a:off x="2684305" y="3163497"/>
            <a:ext cx="3611880" cy="950319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8E757D2B-2013-A503-89A0-5F0D96188307}"/>
              </a:ext>
            </a:extLst>
          </p:cNvPr>
          <p:cNvSpPr/>
          <p:nvPr/>
        </p:nvSpPr>
        <p:spPr>
          <a:xfrm>
            <a:off x="2719996" y="3119670"/>
            <a:ext cx="164592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 Size</a:t>
            </a:r>
            <a:endParaRPr lang="en-US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D1D44F8E-1416-D711-1C08-860FE27A50DE}"/>
              </a:ext>
            </a:extLst>
          </p:cNvPr>
          <p:cNvSpPr/>
          <p:nvPr/>
        </p:nvSpPr>
        <p:spPr>
          <a:xfrm>
            <a:off x="4411636" y="3185614"/>
            <a:ext cx="182880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Resized to 224 × 224 px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4851F7A5-9B91-3666-DC91-A530DEA2AE08}"/>
              </a:ext>
            </a:extLst>
          </p:cNvPr>
          <p:cNvSpPr/>
          <p:nvPr/>
        </p:nvSpPr>
        <p:spPr>
          <a:xfrm>
            <a:off x="2684305" y="3889647"/>
            <a:ext cx="3611880" cy="9503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E0ECF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FA14DC7-ED32-BAF8-92CE-FD5927C4F603}"/>
              </a:ext>
            </a:extLst>
          </p:cNvPr>
          <p:cNvSpPr/>
          <p:nvPr/>
        </p:nvSpPr>
        <p:spPr>
          <a:xfrm>
            <a:off x="2719996" y="3715320"/>
            <a:ext cx="164592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Normalization</a:t>
            </a:r>
            <a:endParaRPr lang="en-US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CE72EBF-9912-B974-53FB-924F0633B654}"/>
              </a:ext>
            </a:extLst>
          </p:cNvPr>
          <p:cNvSpPr/>
          <p:nvPr/>
        </p:nvSpPr>
        <p:spPr>
          <a:xfrm>
            <a:off x="4403820" y="3752150"/>
            <a:ext cx="182880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ImageNet statistics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364C0A2E-01A0-1B2F-72F3-305B68069BA5}"/>
              </a:ext>
            </a:extLst>
          </p:cNvPr>
          <p:cNvSpPr/>
          <p:nvPr/>
        </p:nvSpPr>
        <p:spPr>
          <a:xfrm>
            <a:off x="2684305" y="4396478"/>
            <a:ext cx="3611880" cy="767567"/>
          </a:xfrm>
          <a:prstGeom prst="rect">
            <a:avLst/>
          </a:prstGeom>
          <a:solidFill>
            <a:srgbClr val="FFFFFF"/>
          </a:solidFill>
          <a:ln w="12700">
            <a:solidFill>
              <a:srgbClr val="E0ECFA"/>
            </a:solidFill>
            <a:prstDash val="solid"/>
          </a:ln>
        </p:spPr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2968606D-C6D7-C9BF-4B26-20DEE932C10B}"/>
              </a:ext>
            </a:extLst>
          </p:cNvPr>
          <p:cNvSpPr/>
          <p:nvPr/>
        </p:nvSpPr>
        <p:spPr>
          <a:xfrm>
            <a:off x="2730025" y="4325683"/>
            <a:ext cx="164592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accent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Format</a:t>
            </a:r>
            <a:endParaRPr lang="en-US" sz="15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B61C882-5102-D564-B0AE-370EE832420B}"/>
              </a:ext>
            </a:extLst>
          </p:cNvPr>
          <p:cNvSpPr/>
          <p:nvPr/>
        </p:nvSpPr>
        <p:spPr>
          <a:xfrm>
            <a:off x="4375945" y="4325683"/>
            <a:ext cx="1828800" cy="7675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 folders by class label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79FF80-8F18-88C4-97F9-E7BF0FAD5078}"/>
              </a:ext>
            </a:extLst>
          </p:cNvPr>
          <p:cNvSpPr txBox="1"/>
          <p:nvPr/>
        </p:nvSpPr>
        <p:spPr>
          <a:xfrm>
            <a:off x="403122" y="5527396"/>
            <a:ext cx="85049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increase diversity in the samples, augmentation was applied to the existing images.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augmentation, each set contained 1335 AMD images and 3110 Non-AMD images, with equal distribution in all three 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856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2F9F7-5908-3E1A-255E-1E48A970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98336" cy="853440"/>
          </a:xfrm>
        </p:spPr>
        <p:txBody>
          <a:bodyPr/>
          <a:lstStyle/>
          <a:p>
            <a:pPr algn="ctr"/>
            <a:r>
              <a:rPr lang="en-US" sz="3200" b="1" dirty="0"/>
              <a:t>ARCHITECTURES</a:t>
            </a: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F53BE59D-8631-AD63-CCD5-F750DE0496B7}"/>
              </a:ext>
            </a:extLst>
          </p:cNvPr>
          <p:cNvSpPr/>
          <p:nvPr/>
        </p:nvSpPr>
        <p:spPr>
          <a:xfrm>
            <a:off x="303817" y="1698031"/>
            <a:ext cx="4114800" cy="3227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4">
            <a:extLst>
              <a:ext uri="{FF2B5EF4-FFF2-40B4-BE49-F238E27FC236}">
                <a16:creationId xmlns:a16="http://schemas.microsoft.com/office/drawing/2014/main" id="{389D1222-348B-A99E-414F-92450DF9DE8B}"/>
              </a:ext>
            </a:extLst>
          </p:cNvPr>
          <p:cNvSpPr/>
          <p:nvPr/>
        </p:nvSpPr>
        <p:spPr>
          <a:xfrm>
            <a:off x="303817" y="1698031"/>
            <a:ext cx="4114800" cy="4094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E8722A"/>
            </a:solidFill>
            <a:prstDash val="solid"/>
          </a:ln>
        </p:spPr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A492408B-DCFD-A52B-C3C5-A3A15ACCB958}"/>
              </a:ext>
            </a:extLst>
          </p:cNvPr>
          <p:cNvSpPr/>
          <p:nvPr/>
        </p:nvSpPr>
        <p:spPr>
          <a:xfrm>
            <a:off x="303817" y="1698031"/>
            <a:ext cx="4114800" cy="409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20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DAE756C9-B246-79B6-E168-516E17F17B87}"/>
              </a:ext>
            </a:extLst>
          </p:cNvPr>
          <p:cNvSpPr/>
          <p:nvPr/>
        </p:nvSpPr>
        <p:spPr>
          <a:xfrm>
            <a:off x="303817" y="2264959"/>
            <a:ext cx="4114800" cy="22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</a:t>
            </a:r>
            <a:endParaRPr lang="en-US" sz="1200" dirty="0"/>
          </a:p>
        </p:txBody>
      </p:sp>
      <p:sp>
        <p:nvSpPr>
          <p:cNvPr id="26" name="Text 7">
            <a:extLst>
              <a:ext uri="{FF2B5EF4-FFF2-40B4-BE49-F238E27FC236}">
                <a16:creationId xmlns:a16="http://schemas.microsoft.com/office/drawing/2014/main" id="{21EE44F6-BF52-3F0B-891D-46A8C0C8B0FF}"/>
              </a:ext>
            </a:extLst>
          </p:cNvPr>
          <p:cNvSpPr/>
          <p:nvPr/>
        </p:nvSpPr>
        <p:spPr>
          <a:xfrm>
            <a:off x="486697" y="2612431"/>
            <a:ext cx="3749040" cy="207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50-layer deep residual network with skip connections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Hierarchical local feature extraction via convolutions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Pre-trained on ImageNet-1K, fine-tuned for AMD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head replaced with binary linear layer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Computationally efficient on small datasets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C5386382-9F35-B6CF-893D-5AC293DF0E9F}"/>
              </a:ext>
            </a:extLst>
          </p:cNvPr>
          <p:cNvSpPr/>
          <p:nvPr/>
        </p:nvSpPr>
        <p:spPr>
          <a:xfrm>
            <a:off x="4784377" y="1698030"/>
            <a:ext cx="4114800" cy="3227929"/>
          </a:xfrm>
          <a:prstGeom prst="rect">
            <a:avLst/>
          </a:prstGeom>
          <a:solidFill>
            <a:srgbClr val="FFFFFF"/>
          </a:solidFill>
          <a:ln w="12700">
            <a:solidFill>
              <a:srgbClr val="D0E4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800625AB-1A1F-3A45-C62C-9494702B56F7}"/>
              </a:ext>
            </a:extLst>
          </p:cNvPr>
          <p:cNvSpPr/>
          <p:nvPr/>
        </p:nvSpPr>
        <p:spPr>
          <a:xfrm>
            <a:off x="4784377" y="1698031"/>
            <a:ext cx="4114800" cy="409448"/>
          </a:xfrm>
          <a:prstGeom prst="rect">
            <a:avLst/>
          </a:prstGeom>
          <a:solidFill>
            <a:schemeClr val="accent2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Text 10">
            <a:extLst>
              <a:ext uri="{FF2B5EF4-FFF2-40B4-BE49-F238E27FC236}">
                <a16:creationId xmlns:a16="http://schemas.microsoft.com/office/drawing/2014/main" id="{C9B4A0CE-7C65-E932-2E29-46347397F544}"/>
              </a:ext>
            </a:extLst>
          </p:cNvPr>
          <p:cNvSpPr/>
          <p:nvPr/>
        </p:nvSpPr>
        <p:spPr>
          <a:xfrm>
            <a:off x="4784377" y="1698031"/>
            <a:ext cx="4114800" cy="409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Swin Transformer</a:t>
            </a:r>
            <a:endParaRPr lang="en-US" sz="2000" dirty="0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740CB7F7-0AE7-06B6-27A5-E5EB37B090A8}"/>
              </a:ext>
            </a:extLst>
          </p:cNvPr>
          <p:cNvSpPr/>
          <p:nvPr/>
        </p:nvSpPr>
        <p:spPr>
          <a:xfrm>
            <a:off x="4784377" y="2264959"/>
            <a:ext cx="4114800" cy="220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 Architecture</a:t>
            </a:r>
            <a:endParaRPr lang="en-US" sz="120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B2CE5093-BBC1-5F84-D0F2-4BF432094B8D}"/>
              </a:ext>
            </a:extLst>
          </p:cNvPr>
          <p:cNvSpPr/>
          <p:nvPr/>
        </p:nvSpPr>
        <p:spPr>
          <a:xfrm>
            <a:off x="4967257" y="2612431"/>
            <a:ext cx="3749040" cy="2078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Hierarchical shifted-window self-attention mechanism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Captures both local fine-grained and global features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Multi-scale feature extraction — computationally efficient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Pre-trained on ImageNet-1K, fine-tuned for AMD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head replaced with binary linear layer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989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12540E-8F82-4259-8196-6FB70D189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98336" cy="855406"/>
          </a:xfrm>
        </p:spPr>
        <p:txBody>
          <a:bodyPr/>
          <a:lstStyle/>
          <a:p>
            <a:pPr algn="ctr"/>
            <a:r>
              <a:rPr lang="en-US" sz="3200" b="1" dirty="0"/>
              <a:t>METHODOLOGY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4424F-9C40-5D50-8FC5-36448EF6FF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78" b="3042"/>
          <a:stretch>
            <a:fillRect/>
          </a:stretch>
        </p:blipFill>
        <p:spPr>
          <a:xfrm>
            <a:off x="2791575" y="1002890"/>
            <a:ext cx="3923857" cy="549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02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C232-46F4-E3F2-AEF5-349DE6D40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469626" cy="806245"/>
          </a:xfrm>
        </p:spPr>
        <p:txBody>
          <a:bodyPr/>
          <a:lstStyle/>
          <a:p>
            <a:pPr algn="ctr"/>
            <a:r>
              <a:rPr lang="en-US" sz="3200" b="1" dirty="0"/>
              <a:t>RESULTS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B377A9-3659-0BDB-3557-E33BE886E624}"/>
              </a:ext>
            </a:extLst>
          </p:cNvPr>
          <p:cNvSpPr/>
          <p:nvPr/>
        </p:nvSpPr>
        <p:spPr>
          <a:xfrm>
            <a:off x="175997" y="1209860"/>
            <a:ext cx="885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 Performance After Fine-Tuning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DA28E6B4-DEA0-2697-D1A4-988C26ACF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02017"/>
              </p:ext>
            </p:extLst>
          </p:nvPr>
        </p:nvGraphicFramePr>
        <p:xfrm>
          <a:off x="175998" y="1575619"/>
          <a:ext cx="8850016" cy="160019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64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42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66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(AMD)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(AMD)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(AMD)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0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 Transformer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88.68%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0.919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84.00%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0.71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0.855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>
            <a:extLst>
              <a:ext uri="{FF2B5EF4-FFF2-40B4-BE49-F238E27FC236}">
                <a16:creationId xmlns:a16="http://schemas.microsoft.com/office/drawing/2014/main" id="{077EF12A-F9DE-6EE5-5907-BC3CB8575852}"/>
              </a:ext>
            </a:extLst>
          </p:cNvPr>
          <p:cNvSpPr/>
          <p:nvPr/>
        </p:nvSpPr>
        <p:spPr>
          <a:xfrm>
            <a:off x="175996" y="3421289"/>
            <a:ext cx="885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Confusion Matrix Comparison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B195E3D2-CCC8-46C7-88E4-B7A805E23E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678834"/>
              </p:ext>
            </p:extLst>
          </p:nvPr>
        </p:nvGraphicFramePr>
        <p:xfrm>
          <a:off x="214846" y="3741329"/>
          <a:ext cx="8811165" cy="134331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62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62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2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733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AMD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AMD → Non-AMD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 Non-AMD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Non-AMD → AMD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7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Swin Transformer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1097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238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2845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265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733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ResNet50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950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385 ⚠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2761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339</a:t>
                      </a:r>
                      <a:endParaRPr lang="en-US" sz="15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>
            <a:extLst>
              <a:ext uri="{FF2B5EF4-FFF2-40B4-BE49-F238E27FC236}">
                <a16:creationId xmlns:a16="http://schemas.microsoft.com/office/drawing/2014/main" id="{F3FDE006-BCC1-F71A-914A-A043BC8DD335}"/>
              </a:ext>
            </a:extLst>
          </p:cNvPr>
          <p:cNvSpPr/>
          <p:nvPr/>
        </p:nvSpPr>
        <p:spPr>
          <a:xfrm>
            <a:off x="241141" y="5364849"/>
            <a:ext cx="8784871" cy="10961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Swin Transformer outperforms ResNet50 across all metrics.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Its hierarchical shifted-window self-attention captures both local and global retinal features </a:t>
            </a:r>
          </a:p>
          <a:p>
            <a:pPr marL="285750" indent="-285750"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Superior AMD recall (0.82 vs 0.71) and significantly fewer false negatives (238 vs 385), which is clinically critical.</a:t>
            </a: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74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A825AA2-317C-8F96-CD7C-9A1241034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08955" cy="875071"/>
          </a:xfrm>
        </p:spPr>
        <p:txBody>
          <a:bodyPr/>
          <a:lstStyle/>
          <a:p>
            <a:pPr algn="ctr"/>
            <a:r>
              <a:rPr lang="en-US" sz="3200" b="1" dirty="0"/>
              <a:t>PERFORMANCE GRAPHS</a:t>
            </a:r>
          </a:p>
        </p:txBody>
      </p:sp>
      <p:graphicFrame>
        <p:nvGraphicFramePr>
          <p:cNvPr id="15" name="Chart 1">
            <a:extLst>
              <a:ext uri="{FF2B5EF4-FFF2-40B4-BE49-F238E27FC236}">
                <a16:creationId xmlns:a16="http://schemas.microsoft.com/office/drawing/2014/main" id="{95A1A1D7-523B-8223-5812-F678D47186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3250421"/>
              </p:ext>
            </p:extLst>
          </p:nvPr>
        </p:nvGraphicFramePr>
        <p:xfrm>
          <a:off x="137653" y="1524001"/>
          <a:ext cx="8799870" cy="3854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82158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5">
            <a:extLst>
              <a:ext uri="{FF2B5EF4-FFF2-40B4-BE49-F238E27FC236}">
                <a16:creationId xmlns:a16="http://schemas.microsoft.com/office/drawing/2014/main" id="{F9AB5AB8-F830-B7E0-22EC-0A8FA1FCEB95}"/>
              </a:ext>
            </a:extLst>
          </p:cNvPr>
          <p:cNvSpPr/>
          <p:nvPr/>
        </p:nvSpPr>
        <p:spPr>
          <a:xfrm>
            <a:off x="548640" y="1618488"/>
            <a:ext cx="64008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E03B5FAB-7C1E-20B1-0E44-21A41B4A85B8}"/>
              </a:ext>
            </a:extLst>
          </p:cNvPr>
          <p:cNvSpPr/>
          <p:nvPr/>
        </p:nvSpPr>
        <p:spPr>
          <a:xfrm>
            <a:off x="731520" y="18928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Swin Transformer achieved superior AMD classification performance. </a:t>
            </a:r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43B9FD93-3D84-FDC4-EA0F-64A3DBC61D46}"/>
              </a:ext>
            </a:extLst>
          </p:cNvPr>
          <p:cNvSpPr/>
          <p:nvPr/>
        </p:nvSpPr>
        <p:spPr>
          <a:xfrm>
            <a:off x="548640" y="2551176"/>
            <a:ext cx="64008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1F28DC85-24E9-CE8F-71EF-4E0755D83709}"/>
              </a:ext>
            </a:extLst>
          </p:cNvPr>
          <p:cNvSpPr/>
          <p:nvPr/>
        </p:nvSpPr>
        <p:spPr>
          <a:xfrm>
            <a:off x="731520" y="279078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architectures captured retinal features more effectively. </a:t>
            </a:r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4AE2E0BD-B518-5D95-100E-236BCA0EA977}"/>
              </a:ext>
            </a:extLst>
          </p:cNvPr>
          <p:cNvSpPr/>
          <p:nvPr/>
        </p:nvSpPr>
        <p:spPr>
          <a:xfrm>
            <a:off x="548640" y="3483864"/>
            <a:ext cx="64008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D306FD3C-2192-2460-8ECE-6A0C20DE6442}"/>
              </a:ext>
            </a:extLst>
          </p:cNvPr>
          <p:cNvSpPr/>
          <p:nvPr/>
        </p:nvSpPr>
        <p:spPr>
          <a:xfrm>
            <a:off x="731520" y="3688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Struggled with long-range dependencies and exhibited overfitting</a:t>
            </a:r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97EB6019-5D32-6BF0-F06D-B415E52A6F80}"/>
              </a:ext>
            </a:extLst>
          </p:cNvPr>
          <p:cNvSpPr/>
          <p:nvPr/>
        </p:nvSpPr>
        <p:spPr>
          <a:xfrm>
            <a:off x="548640" y="4416552"/>
            <a:ext cx="64008" cy="82296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2B94F6AC-AFCC-5150-E14B-7934B4CBC4F6}"/>
              </a:ext>
            </a:extLst>
          </p:cNvPr>
          <p:cNvSpPr/>
          <p:nvPr/>
        </p:nvSpPr>
        <p:spPr>
          <a:xfrm>
            <a:off x="731520" y="45867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ResNet50 showed limitations in handling global dependencies. 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C54EC701-E2BD-EBF1-4544-CD6D18E0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523604" cy="829056"/>
          </a:xfrm>
        </p:spPr>
        <p:txBody>
          <a:bodyPr/>
          <a:lstStyle/>
          <a:p>
            <a:pPr algn="ctr"/>
            <a:r>
              <a:rPr lang="en-US" sz="3200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204906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287F6-EE7D-B175-F7C3-E57A9C17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6528619" cy="845574"/>
          </a:xfrm>
        </p:spPr>
        <p:txBody>
          <a:bodyPr/>
          <a:lstStyle/>
          <a:p>
            <a:pPr algn="ctr"/>
            <a:r>
              <a:rPr lang="en-US" sz="3200" b="1" dirty="0"/>
              <a:t>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323E74-51F3-FA96-F8A9-92494ED62D9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112481" y="2021906"/>
            <a:ext cx="8919038" cy="2668082"/>
          </a:xfrm>
        </p:spPr>
        <p:txBody>
          <a:bodyPr>
            <a:normAutofit/>
          </a:bodyPr>
          <a:lstStyle/>
          <a:p>
            <a:pPr algn="just"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 class imbalance using techniques like SMOTE to improve sensitivity &amp; reduce false negatives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volume and diversity of retinal images to significantly improve the generalization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regularization techniques such as dropout, weight decay, and advanced learning rate scheduling to prevent overfitting and ensure model stability.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Explainable AI (XAI) like Grad-CAM, to provide transparent explanations</a:t>
            </a:r>
          </a:p>
          <a:p>
            <a:pPr algn="just"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 beyond binary classification to multi-class models capable of differentiating between forms of AMD</a:t>
            </a:r>
          </a:p>
          <a:p>
            <a:pPr marL="0" indent="0">
              <a:buClr>
                <a:schemeClr val="accent2"/>
              </a:buClr>
              <a:buNone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19327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35726</TotalTime>
  <Words>652</Words>
  <Application>Microsoft Office PowerPoint</Application>
  <PresentationFormat>On-screen Show (4:3)</PresentationFormat>
  <Paragraphs>143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Times New Roman</vt:lpstr>
      <vt:lpstr>Wingdings</vt:lpstr>
      <vt:lpstr>Office Theme</vt:lpstr>
      <vt:lpstr>PowerPoint Presentation</vt:lpstr>
      <vt:lpstr>TABLE OF CONTENT</vt:lpstr>
      <vt:lpstr>PowerPoint Presentation</vt:lpstr>
      <vt:lpstr>PowerPoint Presentation</vt:lpstr>
      <vt:lpstr>PowerPoint Presentation</vt:lpstr>
      <vt:lpstr>ARCHITECTURES</vt:lpstr>
      <vt:lpstr>METHODOLOGY</vt:lpstr>
      <vt:lpstr>RESULTS</vt:lpstr>
      <vt:lpstr>PERFORMANCE GRAPHS</vt:lpstr>
      <vt:lpstr>CONCLUSION</vt:lpstr>
      <vt:lpstr>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Avireet Kaur</cp:lastModifiedBy>
  <cp:revision>2301</cp:revision>
  <dcterms:created xsi:type="dcterms:W3CDTF">2010-04-09T07:36:15Z</dcterms:created>
  <dcterms:modified xsi:type="dcterms:W3CDTF">2026-05-14T21:05:38Z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